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6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4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41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00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3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0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49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03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84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02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3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44">
            <a:extLst>
              <a:ext uri="{FF2B5EF4-FFF2-40B4-BE49-F238E27FC236}">
                <a16:creationId xmlns:a16="http://schemas.microsoft.com/office/drawing/2014/main" id="{80C2DB6E-8832-469C-A243-285F61B4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30" y="1007508"/>
            <a:ext cx="864817" cy="11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 bmk="_Hlk220405896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4CA7C7A-D393-44B5-ACAE-BF5C66FC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87" y="2140418"/>
            <a:ext cx="5923626" cy="712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en-US" altLang="ru-RU" sz="2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23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S E R T I F I K A T</a:t>
            </a:r>
            <a:endParaRPr lang="uz-Latn-UZ" altLang="ru-RU" sz="2300" b="1" dirty="0" bmk="">
              <a:solidFill>
                <a:srgbClr val="000000"/>
              </a:solidFill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uz-Latn-UZ" altLang="ru-RU" sz="2300" b="1" i="0" u="none" strike="noStrike" cap="none" normalizeH="0" baseline="0" dirty="0" bmk="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6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kumimoji="0" lang="uz-Cyrl-UZ" altLang="ru-RU" sz="16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№ </a:t>
            </a:r>
            <a:r>
              <a:rPr kumimoji="0" lang="en-US" altLang="ru-RU" sz="1600" b="1" i="0" u="sng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{{ID}}</a:t>
            </a:r>
            <a:endParaRPr kumimoji="0" lang="uz-Latn-UZ" altLang="ru-RU" sz="1600" b="1" i="0" u="sng" strike="noStrike" cap="none" normalizeH="0" baseline="0" dirty="0" bmk="">
              <a:ln>
                <a:noFill/>
              </a:ln>
              <a:solidFill>
                <a:srgbClr val="000000"/>
              </a:solidFill>
              <a:effectLst/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lang="uz-Latn-UZ" altLang="ru-RU" sz="1600" b="1" u="sng" dirty="0" bmk="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900" b="1" i="0" u="sng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{{NAME_UZ}}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1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F.I.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uz-Cyrl-UZ" altLang="ru-RU" sz="11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uz-Latn-UZ" altLang="ru-RU" sz="11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lang="uz-Latn-UZ" altLang="ru-RU" sz="1100" dirty="0" bmk="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ru-RU" altLang="ru-RU" sz="1400" b="1" i="0" u="sng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Muhandislik</a:t>
            </a:r>
            <a:r>
              <a:rPr kumimoji="0" lang="ru-RU" altLang="ru-RU" sz="1400" b="1" i="0" u="sng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400" b="1" i="0" u="sng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maktabi</a:t>
            </a:r>
            <a:r>
              <a:rPr kumimoji="0" lang="uz-Latn-UZ" altLang="ru-RU" sz="1400" b="1" i="0" u="sng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da</a:t>
            </a:r>
            <a:r>
              <a:rPr kumimoji="0" lang="en-US" altLang="ru-RU" sz="1100" b="0" i="0" u="sng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quv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markazi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nomi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br>
              <a:rPr kumimoji="0" lang="uz-Cyrl-UZ" altLang="ru-RU" sz="14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z-Cyrl-UZ" altLang="ru-RU" sz="14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da </a:t>
            </a:r>
            <a:r>
              <a:rPr lang="en-US" sz="1400" dirty="0"/>
              <a:t>{{DATE_UZ}}</a:t>
            </a:r>
            <a:r>
              <a:rPr kumimoji="0" lang="uz-Cyrl-UZ" altLang="ru-RU" sz="14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4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{{HOURS}} </a:t>
            </a:r>
            <a:r>
              <a:rPr kumimoji="0" lang="uz-Cyrl-UZ" altLang="ru-RU" sz="14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soatli</a:t>
            </a:r>
            <a:endParaRPr kumimoji="0" lang="uz-Latn-UZ" altLang="ru-RU" sz="1400" b="0" i="0" u="none" strike="noStrike" cap="none" normalizeH="0" baseline="0" dirty="0" bmk="">
              <a:ln>
                <a:noFill/>
              </a:ln>
              <a:solidFill>
                <a:srgbClr val="000000"/>
              </a:solidFill>
              <a:effectLst/>
              <a:latin typeface="Times-Roman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ru-RU" altLang="ru-RU" sz="1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8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{{COURSE_UZ}}</a:t>
            </a:r>
            <a:endParaRPr kumimoji="0" lang="en-US" altLang="ru-RU" sz="1800" b="1" i="0" u="none" strike="noStrike" cap="none" normalizeH="0" baseline="0" dirty="0" bmk="">
              <a:ln>
                <a:noFill/>
              </a:ln>
              <a:solidFill>
                <a:srgbClr val="000000"/>
              </a:solidFill>
              <a:effectLst/>
              <a:latin typeface="Times-Bold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en-US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kasbi bo</a:t>
            </a: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yicha {{TRAINING_TYPE}}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kursini to</a:t>
            </a: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kumimoji="0" lang="uz-Cyrl-UZ" altLang="ru-RU" sz="15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liq tamomladi.</a:t>
            </a:r>
            <a:br>
              <a:rPr kumimoji="0" lang="uz-Cyrl-UZ" altLang="ru-RU" sz="10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z-Cyrl-UZ" altLang="ru-RU" sz="900" b="0" i="0" u="none" strike="noStrike" cap="none" normalizeH="0" baseline="0" dirty="0" bmk="">
                <a:ln>
                  <a:noFill/>
                </a:ln>
                <a:solidFill>
                  <a:srgbClr val="FFFFFF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uz-Cyrl-UZ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z-Cyrl-UZ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0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000" b="1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	</a:t>
            </a:r>
            <a:endParaRPr kumimoji="0" lang="ru-RU" altLang="ru-RU" sz="4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ru-RU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uz-Latn-UZ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ru-RU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z-Latn-UZ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Muhandislik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maktabi</a:t>
            </a:r>
            <a:b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uz-Latn-UZ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direktori</a:t>
            </a:r>
            <a:r>
              <a:rPr kumimoji="0" lang="en-US" altLang="ru-RU" sz="1100" b="0" i="0" u="none" strike="noStrike" cap="none" normalizeH="0" baseline="0" dirty="0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:		           </a:t>
            </a:r>
            <a:r>
              <a:rPr kumimoji="0" lang="en-US" altLang="ru-RU" sz="1100" b="0" i="0" u="none" strike="noStrike" cap="none" normalizeH="0" baseline="0" dirty="0" err="1" bmk="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B.A.Salimov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uz-Latn-UZ" altLang="ru-R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{{ISSUE_DATE}}		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BFBE7-768B-405F-9F37-9E23F0CAB8CF}"/>
              </a:ext>
            </a:extLst>
          </p:cNvPr>
          <p:cNvSpPr txBox="1"/>
          <p:nvPr/>
        </p:nvSpPr>
        <p:spPr>
          <a:xfrm>
            <a:off x="3995450" y="1130531"/>
            <a:ext cx="23522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Olmaliq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KMK” AJ 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maktabi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4CF39A-5465-432D-8B4C-E10017C4C06A}"/>
              </a:ext>
            </a:extLst>
          </p:cNvPr>
          <p:cNvSpPr/>
          <p:nvPr/>
        </p:nvSpPr>
        <p:spPr>
          <a:xfrm>
            <a:off x="5171557" y="821127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9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44">
            <a:extLst>
              <a:ext uri="{FF2B5EF4-FFF2-40B4-BE49-F238E27FC236}">
                <a16:creationId xmlns:a16="http://schemas.microsoft.com/office/drawing/2014/main" id="{80C2DB6E-8832-469C-A243-285F61B4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30" y="1007508"/>
            <a:ext cx="864817" cy="11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4CA7C7A-D393-44B5-ACAE-BF5C66FC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87" y="2148112"/>
            <a:ext cx="5923626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en-US" altLang="ru-RU" sz="2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Latn-UZ" altLang="ru-RU" sz="2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ru-RU" sz="2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 E R T I F I </a:t>
            </a:r>
            <a:r>
              <a:rPr kumimoji="0" lang="uz-Latn-UZ" altLang="ru-RU" sz="2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ru-RU" sz="2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 A T</a:t>
            </a:r>
            <a:r>
              <a:rPr kumimoji="0" lang="uz-Latn-UZ" altLang="ru-RU" sz="2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 E</a:t>
            </a:r>
            <a:endParaRPr lang="uz-Latn-UZ" altLang="ru-RU" sz="2300" b="1" dirty="0">
              <a:solidFill>
                <a:srgbClr val="000000"/>
              </a:solidFill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uz-Latn-UZ" altLang="ru-RU" sz="2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kumimoji="0" lang="uz-Cyrl-UZ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№ </a:t>
            </a:r>
            <a:r>
              <a:rPr kumimoji="0" lang="en-US" altLang="ru-RU" sz="1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{{ID}}</a:t>
            </a:r>
            <a:endParaRPr kumimoji="0" lang="uz-Latn-UZ" altLang="ru-RU" sz="16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NewRomanPS-Bold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lang="uz-Latn-UZ" altLang="ru-RU" sz="1600" b="1" u="sng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9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{{NAME_</a:t>
            </a:r>
            <a:r>
              <a:rPr lang="uz-Latn-UZ" altLang="ru-RU" sz="1900" b="1" u="sng" dirty="0">
                <a:solidFill>
                  <a:srgbClr val="000000"/>
                </a:solidFill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kumimoji="0" lang="uz-Cyrl-UZ" altLang="ru-RU" sz="19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uz-Latn-UZ" altLang="ru-RU" sz="1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ull name</a:t>
            </a:r>
            <a:endParaRPr kumimoji="0" lang="uz-Latn-UZ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lang="uz-Latn-UZ" altLang="ru-RU" sz="1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school </a:t>
            </a:r>
            <a:endParaRPr lang="uz-Latn-UZ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lang="uz-Latn-UZ" altLang="ru-RU" sz="1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 of the training center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br>
              <a:rPr kumimoji="0" lang="uz-Cyrl-UZ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400" dirty="0"/>
              <a:t>{{DATE_EN}}</a:t>
            </a:r>
            <a:r>
              <a:rPr lang="uz-Latn-UZ" sz="1400"/>
              <a:t> </a:t>
            </a: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{{HOURS}} hours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ea typeface="Calibri" panose="020F0502020204030204" pitchFamily="34" charset="0"/>
                <a:cs typeface="Times New Roman" panose="02020603050405020304" pitchFamily="18" charset="0"/>
              </a:rPr>
              <a:t>completed full professional {{TRAINING_TYPE_EN}} course of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{{COURSE_</a:t>
            </a:r>
            <a:r>
              <a:rPr lang="uz-Latn-UZ" altLang="ru-RU" b="1" dirty="0">
                <a:solidFill>
                  <a:srgbClr val="000000"/>
                </a:solidFill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kumimoji="0" lang="uz-Cyrl-UZ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kumimoji="0" lang="en-US" altLang="ru-RU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school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-Bold" charset="0"/>
                <a:ea typeface="Calibri" panose="020F0502020204030204" pitchFamily="34" charset="0"/>
                <a:cs typeface="Times New Roman" panose="02020603050405020304" pitchFamily="18" charset="0"/>
              </a:rPr>
              <a:t>Name of vocational training center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br>
              <a:rPr kumimoji="0" lang="uz-Cyrl-UZ" altLang="ru-RU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z-Cyrl-UZ" altLang="ru-RU" sz="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uz-Cyrl-UZ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z-Cyrl-UZ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r>
              <a:rPr kumimoji="0" lang="en-US" altLang="ru-RU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-Bold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endParaRPr kumimoji="0" lang="en-US" altLang="ru-RU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NewRomanPS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Director of Engineering school          </a:t>
            </a: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B.A.Salimov</a:t>
            </a:r>
            <a:endParaRPr kumimoji="0" lang="en-US" altLang="ru-RU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NewRomanPSMT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NewRomanPSMT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ru-RU" altLang="ru-RU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7800" algn="l"/>
              </a:tabLst>
            </a:pPr>
            <a:r>
              <a:rPr kumimoji="0" lang="uz-Cyrl-UZ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 Issued: </a:t>
            </a:r>
            <a:r>
              <a:rPr kumimoji="0" lang="uz-Latn-UZ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{{ISSUE_DATE}}		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BFBE7-768B-405F-9F37-9E23F0CAB8CF}"/>
              </a:ext>
            </a:extLst>
          </p:cNvPr>
          <p:cNvSpPr txBox="1"/>
          <p:nvPr/>
        </p:nvSpPr>
        <p:spPr>
          <a:xfrm>
            <a:off x="4038600" y="1104530"/>
            <a:ext cx="2352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school of</a:t>
            </a:r>
            <a:endParaRPr lang="uz-Latn-UZ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Almalyk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MMC” JSC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7A0937-0536-4FFC-B346-843C10C5CA5B}"/>
              </a:ext>
            </a:extLst>
          </p:cNvPr>
          <p:cNvSpPr/>
          <p:nvPr/>
        </p:nvSpPr>
        <p:spPr>
          <a:xfrm>
            <a:off x="5171557" y="821127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87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88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A1798-E032-4766-82C9-9D8F82904BE6}"/>
              </a:ext>
            </a:extLst>
          </p:cNvPr>
          <p:cNvSpPr txBox="1"/>
          <p:nvPr/>
        </p:nvSpPr>
        <p:spPr>
          <a:xfrm>
            <a:off x="1714500" y="4189519"/>
            <a:ext cx="3429000" cy="2201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“Olmaliq KMK” AJ 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Muhandislik maktabi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4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Cyrl-UZ" sz="4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Cyrl-UZ" sz="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E R T I F I K A T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“Almalyk MMC” JS</a:t>
            </a:r>
            <a:r>
              <a:rPr lang="en-US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Engineering school of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DAE742-A33E-1D0B-6934-60AFD4F5589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39" y="1615367"/>
            <a:ext cx="165100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93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277</Words>
  <Application>Microsoft Office PowerPoint</Application>
  <PresentationFormat>Лист A4 (210x297 мм)</PresentationFormat>
  <Paragraphs>71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Times-Bold</vt:lpstr>
      <vt:lpstr>TimesNewRomanPS-BoldMT</vt:lpstr>
      <vt:lpstr>TimesNewRomanPS-ItalicMT</vt:lpstr>
      <vt:lpstr>TimesNewRomanPSMT</vt:lpstr>
      <vt:lpstr>Times-Roman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2026-05-13T10:55:38Z</dcterms:created>
  <dcterms:modified xsi:type="dcterms:W3CDTF">2026-05-15T10:51:34Z</dcterms:modified>
</cp:coreProperties>
</file>